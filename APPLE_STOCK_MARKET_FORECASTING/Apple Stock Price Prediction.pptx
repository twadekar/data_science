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EDC239-AC67-4689-BD79-165F5BB94E70}">
  <a:tblStyle styleId="{5AEDC239-AC67-4689-BD79-165F5BB94E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2" y="29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 Wadekar" userId="2b0b43e9736e322f" providerId="LiveId" clId="{192908AD-0310-4E56-8E12-80DC56579A23}"/>
    <pc:docChg chg="custSel modSld">
      <pc:chgData name="Tejaswi Wadekar" userId="2b0b43e9736e322f" providerId="LiveId" clId="{192908AD-0310-4E56-8E12-80DC56579A23}" dt="2025-12-08T13:41:54.463" v="77" actId="20577"/>
      <pc:docMkLst>
        <pc:docMk/>
      </pc:docMkLst>
      <pc:sldChg chg="modSp mod">
        <pc:chgData name="Tejaswi Wadekar" userId="2b0b43e9736e322f" providerId="LiveId" clId="{192908AD-0310-4E56-8E12-80DC56579A23}" dt="2025-12-08T13:30:57.051" v="27" actId="20577"/>
        <pc:sldMkLst>
          <pc:docMk/>
          <pc:sldMk cId="0" sldId="258"/>
        </pc:sldMkLst>
        <pc:spChg chg="mod">
          <ac:chgData name="Tejaswi Wadekar" userId="2b0b43e9736e322f" providerId="LiveId" clId="{192908AD-0310-4E56-8E12-80DC56579A23}" dt="2025-12-08T13:30:57.051" v="27" actId="20577"/>
          <ac:spMkLst>
            <pc:docMk/>
            <pc:sldMk cId="0" sldId="258"/>
            <ac:spMk id="66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36:44.744" v="32" actId="255"/>
        <pc:sldMkLst>
          <pc:docMk/>
          <pc:sldMk cId="0" sldId="261"/>
        </pc:sldMkLst>
        <pc:spChg chg="mod">
          <ac:chgData name="Tejaswi Wadekar" userId="2b0b43e9736e322f" providerId="LiveId" clId="{192908AD-0310-4E56-8E12-80DC56579A23}" dt="2025-12-08T13:36:44.744" v="32" actId="255"/>
          <ac:spMkLst>
            <pc:docMk/>
            <pc:sldMk cId="0" sldId="261"/>
            <ac:spMk id="85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37:17.997" v="34" actId="1038"/>
        <pc:sldMkLst>
          <pc:docMk/>
          <pc:sldMk cId="0" sldId="262"/>
        </pc:sldMkLst>
        <pc:spChg chg="mod">
          <ac:chgData name="Tejaswi Wadekar" userId="2b0b43e9736e322f" providerId="LiveId" clId="{192908AD-0310-4E56-8E12-80DC56579A23}" dt="2025-12-08T13:37:17.997" v="34" actId="1038"/>
          <ac:spMkLst>
            <pc:docMk/>
            <pc:sldMk cId="0" sldId="262"/>
            <ac:spMk id="91" creationId="{00000000-0000-0000-0000-000000000000}"/>
          </ac:spMkLst>
        </pc:spChg>
        <pc:spChg chg="mod">
          <ac:chgData name="Tejaswi Wadekar" userId="2b0b43e9736e322f" providerId="LiveId" clId="{192908AD-0310-4E56-8E12-80DC56579A23}" dt="2025-12-08T13:37:00.736" v="33" actId="255"/>
          <ac:spMkLst>
            <pc:docMk/>
            <pc:sldMk cId="0" sldId="262"/>
            <ac:spMk id="92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37:56.657" v="35" actId="255"/>
        <pc:sldMkLst>
          <pc:docMk/>
          <pc:sldMk cId="0" sldId="263"/>
        </pc:sldMkLst>
        <pc:spChg chg="mod">
          <ac:chgData name="Tejaswi Wadekar" userId="2b0b43e9736e322f" providerId="LiveId" clId="{192908AD-0310-4E56-8E12-80DC56579A23}" dt="2025-12-08T13:37:56.657" v="35" actId="255"/>
          <ac:spMkLst>
            <pc:docMk/>
            <pc:sldMk cId="0" sldId="263"/>
            <ac:spMk id="99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38:19.374" v="52" actId="20577"/>
        <pc:sldMkLst>
          <pc:docMk/>
          <pc:sldMk cId="0" sldId="264"/>
        </pc:sldMkLst>
        <pc:spChg chg="mod">
          <ac:chgData name="Tejaswi Wadekar" userId="2b0b43e9736e322f" providerId="LiveId" clId="{192908AD-0310-4E56-8E12-80DC56579A23}" dt="2025-12-08T13:38:19.374" v="52" actId="20577"/>
          <ac:spMkLst>
            <pc:docMk/>
            <pc:sldMk cId="0" sldId="264"/>
            <ac:spMk id="106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39:43.398" v="53" actId="20577"/>
        <pc:sldMkLst>
          <pc:docMk/>
          <pc:sldMk cId="0" sldId="265"/>
        </pc:sldMkLst>
        <pc:spChg chg="mod">
          <ac:chgData name="Tejaswi Wadekar" userId="2b0b43e9736e322f" providerId="LiveId" clId="{192908AD-0310-4E56-8E12-80DC56579A23}" dt="2025-12-08T13:39:43.398" v="53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Tejaswi Wadekar" userId="2b0b43e9736e322f" providerId="LiveId" clId="{192908AD-0310-4E56-8E12-80DC56579A23}" dt="2025-12-08T13:41:54.463" v="77" actId="20577"/>
        <pc:sldMkLst>
          <pc:docMk/>
          <pc:sldMk cId="0" sldId="269"/>
        </pc:sldMkLst>
        <pc:spChg chg="mod">
          <ac:chgData name="Tejaswi Wadekar" userId="2b0b43e9736e322f" providerId="LiveId" clId="{192908AD-0310-4E56-8E12-80DC56579A23}" dt="2025-12-08T13:41:54.463" v="77" actId="20577"/>
          <ac:spMkLst>
            <pc:docMk/>
            <pc:sldMk cId="0" sldId="269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e1e5b857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e1e5b857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1e5b857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1e5b857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1e5b857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e1e5b857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1e5b857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1e5b857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38b013f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38b013f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38b013f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38b013f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38b013f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38b013f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38b013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e38b013f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38b013f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e38b013f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38b013f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e38b013f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38b013f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38b013f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38b013f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38b013f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38b013f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38b013f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38b013f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e38b013f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38b013f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e38b013f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e38b013f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e38b013f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e38b013f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e38b013f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e38b013f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e38b013f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38b013f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e38b013f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e38b013f0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e38b013f0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38b013f0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e38b013f0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38b013f0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e38b013f0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e44736d1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e44736d1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44736d1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e44736d1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7359" y="0"/>
            <a:ext cx="18179700" cy="10287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None/>
            </a:pPr>
            <a:endParaRPr sz="4700" b="1"/>
          </a:p>
          <a:p>
            <a:pPr marL="0" lvl="0" indent="0" algn="ctr" rtl="0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lang="en" sz="6000" b="1" u="sng"/>
              <a:t>Apple Stock Price Prediction</a:t>
            </a:r>
            <a:endParaRPr sz="6000" b="1" u="sng"/>
          </a:p>
          <a:p>
            <a:pPr marL="914400" lvl="0" indent="0" algn="ctr" rtl="0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u="sng"/>
              <a:t> for the Next 30 Days</a:t>
            </a:r>
            <a:endParaRPr sz="6000" b="1" u="sng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10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u="sng"/>
              <a:t>Mentor &amp; Team Members</a:t>
            </a:r>
            <a:endParaRPr b="1" u="sng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-431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 b="1">
                <a:solidFill>
                  <a:schemeClr val="dk1"/>
                </a:solidFill>
              </a:rPr>
              <a:t>Mentor:</a:t>
            </a:r>
            <a:r>
              <a:rPr lang="en" sz="3200">
                <a:solidFill>
                  <a:schemeClr val="dk1"/>
                </a:solidFill>
              </a:rPr>
              <a:t>  Abisheka Kavuri</a:t>
            </a: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3200"/>
          </a:p>
          <a:p>
            <a:pPr marL="457200" lvl="0" indent="-431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 b="1">
                <a:solidFill>
                  <a:schemeClr val="dk1"/>
                </a:solidFill>
              </a:rPr>
              <a:t>Team Members:</a:t>
            </a:r>
            <a:r>
              <a:rPr lang="en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Tejaswi Wadekar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Khushboo Chhaje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Nitin Sangle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Moram Reddy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Himanshu kumar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Lokesh eyyuri</a:t>
            </a:r>
            <a:endParaRPr sz="3000">
              <a:solidFill>
                <a:schemeClr val="dk1"/>
              </a:solidFill>
            </a:endParaRPr>
          </a:p>
          <a:p>
            <a:pPr marL="18288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" sz="3000">
                <a:solidFill>
                  <a:schemeClr val="dk1"/>
                </a:solidFill>
              </a:rPr>
              <a:t>A P Aarunesh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68682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 dirty="0"/>
              <a:t>Objective</a:t>
            </a:r>
            <a:endParaRPr sz="5000" b="1" u="sng" dirty="0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623400" y="29322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 dirty="0">
                <a:solidFill>
                  <a:schemeClr val="dk1"/>
                </a:solidFill>
              </a:rPr>
              <a:t>To evaluate ARIMA, SARIMA, and XGBoost models for Apple stock price prediction and select accurate model.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 dirty="0">
                <a:solidFill>
                  <a:schemeClr val="dk1"/>
                </a:solidFill>
              </a:rPr>
              <a:t>To forecast the next 30 days of Apple’s stock closing price using the selected model.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Dataset Details</a:t>
            </a:r>
            <a:endParaRPr sz="5000" b="1" u="sng"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-4191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Dataset: Apple historical stock market data from 2012 to 2019 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Period: 2012–2019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Columns: Date, Open, High, Low, Close, Adj Close, Volume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               </a:t>
            </a:r>
            <a:r>
              <a:rPr lang="en" sz="2400"/>
              <a:t>- </a:t>
            </a:r>
            <a:r>
              <a:rPr lang="en" sz="2400" u="sng"/>
              <a:t>Date</a:t>
            </a:r>
            <a:r>
              <a:rPr lang="en" sz="2400"/>
              <a:t> :     Trading date</a:t>
            </a:r>
            <a:endParaRPr sz="2400"/>
          </a:p>
          <a:p>
            <a:pPr marL="457200" lvl="0" indent="-2286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                 - </a:t>
            </a:r>
            <a:r>
              <a:rPr lang="en" sz="2400" u="sng"/>
              <a:t>Open</a:t>
            </a:r>
            <a:r>
              <a:rPr lang="en" sz="2400"/>
              <a:t> :    Opening price of Apple stock for the day</a:t>
            </a:r>
            <a:endParaRPr sz="2800"/>
          </a:p>
          <a:p>
            <a:pPr marL="457200" lvl="0" indent="-2286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                 - </a:t>
            </a:r>
            <a:r>
              <a:rPr lang="en" sz="2400" u="sng"/>
              <a:t>High</a:t>
            </a:r>
            <a:r>
              <a:rPr lang="en" sz="2400"/>
              <a:t> :      Highest price reached during the day</a:t>
            </a:r>
            <a:endParaRPr sz="2400"/>
          </a:p>
          <a:p>
            <a:pPr marL="457200" lvl="0" indent="-2286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                 - </a:t>
            </a:r>
            <a:r>
              <a:rPr lang="en" sz="2400" u="sng"/>
              <a:t>Low</a:t>
            </a:r>
            <a:r>
              <a:rPr lang="en" sz="2400"/>
              <a:t> :       Lowest price reached during the day</a:t>
            </a:r>
            <a:endParaRPr sz="2400"/>
          </a:p>
          <a:p>
            <a:pPr marL="457200" lvl="0" indent="-2286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                 - </a:t>
            </a:r>
            <a:r>
              <a:rPr lang="en" sz="2400" u="sng"/>
              <a:t>Close</a:t>
            </a:r>
            <a:r>
              <a:rPr lang="en" sz="2400"/>
              <a:t> :    Closing price of Apple stock for the day</a:t>
            </a:r>
            <a:endParaRPr sz="2400"/>
          </a:p>
          <a:p>
            <a:pPr marL="457200" lvl="0" indent="-2286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                 - </a:t>
            </a:r>
            <a:r>
              <a:rPr lang="en" sz="2400" u="sng"/>
              <a:t>Volume</a:t>
            </a:r>
            <a:r>
              <a:rPr lang="en" sz="2400"/>
              <a:t> :  Number of shares traded on that day</a:t>
            </a:r>
            <a:endParaRPr sz="2400"/>
          </a:p>
          <a:p>
            <a:pPr marL="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                 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u="sng">
                <a:latin typeface="Calibri"/>
                <a:ea typeface="Calibri"/>
                <a:cs typeface="Calibri"/>
                <a:sym typeface="Calibri"/>
              </a:rPr>
              <a:t>Exploratory Data Analysis (EDA) - Distribution of Close Prices</a:t>
            </a:r>
            <a:endParaRPr b="1" u="sng"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1371600" lvl="0" indent="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Observations:</a:t>
            </a:r>
            <a:endParaRPr sz="2100" b="1" dirty="0">
              <a:solidFill>
                <a:schemeClr val="dk1"/>
              </a:solidFill>
            </a:endParaRPr>
          </a:p>
          <a:p>
            <a:pPr marL="1828800" lvl="0" indent="-3219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The distribution of Close prices is right-skewed.</a:t>
            </a:r>
            <a:br>
              <a:rPr lang="en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1828800" lvl="0" indent="-3219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Most values lie between 75–150.</a:t>
            </a:r>
            <a:br>
              <a:rPr lang="en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1828800" lvl="0" indent="-3219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A few high peaks indicate volatility.</a:t>
            </a:r>
            <a:br>
              <a:rPr lang="en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Inference:</a:t>
            </a:r>
            <a:endParaRPr sz="2100" b="1" dirty="0">
              <a:solidFill>
                <a:schemeClr val="dk1"/>
              </a:solidFill>
            </a:endParaRPr>
          </a:p>
          <a:p>
            <a:pPr marL="1828800" lvl="0" indent="-3219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Data is not normally distributed.</a:t>
            </a:r>
            <a:br>
              <a:rPr lang="en" sz="2100" dirty="0">
                <a:solidFill>
                  <a:schemeClr val="dk1"/>
                </a:solidFill>
              </a:rPr>
            </a:br>
            <a:endParaRPr sz="2100" dirty="0">
              <a:solidFill>
                <a:schemeClr val="dk1"/>
              </a:solidFill>
            </a:endParaRPr>
          </a:p>
          <a:p>
            <a:pPr marL="1828800" lvl="0" indent="-3219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dirty="0">
                <a:solidFill>
                  <a:schemeClr val="dk1"/>
                </a:solidFill>
              </a:rPr>
              <a:t>Frequent fluctuations indicate need for ARIMA-like forecasting models.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100" dirty="0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400" y="2145000"/>
            <a:ext cx="7469025" cy="32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 b="1" u="sng"/>
              <a:t>Volume vs Close Price</a:t>
            </a:r>
            <a:endParaRPr sz="5000" b="1" u="sng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76959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300" dirty="0"/>
          </a:p>
          <a:p>
            <a:pPr marL="91440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850" dirty="0"/>
          </a:p>
          <a:p>
            <a:pPr marL="914400" lvl="0" indent="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5200" dirty="0"/>
          </a:p>
          <a:p>
            <a:pPr marL="1371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endParaRPr sz="40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" sz="3200" b="1" dirty="0">
                <a:solidFill>
                  <a:schemeClr val="dk1"/>
                </a:solidFill>
              </a:rPr>
              <a:t>Observations:</a:t>
            </a:r>
            <a:endParaRPr sz="3200" b="1" dirty="0">
              <a:solidFill>
                <a:schemeClr val="dk1"/>
              </a:solidFill>
            </a:endParaRPr>
          </a:p>
          <a:p>
            <a:pPr marL="18288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There’s no strong linear relationship between Volume and Close price.</a:t>
            </a:r>
            <a:br>
              <a:rPr lang="en" sz="3200" dirty="0">
                <a:solidFill>
                  <a:schemeClr val="dk1"/>
                </a:solidFill>
              </a:rPr>
            </a:br>
            <a:endParaRPr sz="3200" dirty="0">
              <a:solidFill>
                <a:schemeClr val="dk1"/>
              </a:solidFill>
            </a:endParaRPr>
          </a:p>
          <a:p>
            <a:pPr marL="18288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Higher volume generally appears when price drops.</a:t>
            </a:r>
            <a:br>
              <a:rPr lang="en" sz="3200" dirty="0">
                <a:solidFill>
                  <a:schemeClr val="dk1"/>
                </a:solidFill>
              </a:rPr>
            </a:br>
            <a:endParaRPr sz="3200" dirty="0">
              <a:solidFill>
                <a:schemeClr val="dk1"/>
              </a:solidFill>
            </a:endParaRPr>
          </a:p>
          <a:p>
            <a:pPr marL="18288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Pattern is highly scattered and non-linear.</a:t>
            </a:r>
            <a:endParaRPr sz="32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" sz="3200" dirty="0">
                <a:solidFill>
                  <a:schemeClr val="dk1"/>
                </a:solidFill>
              </a:rPr>
            </a:br>
            <a:endParaRPr sz="3200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" sz="3200" b="1" dirty="0">
                <a:solidFill>
                  <a:schemeClr val="dk1"/>
                </a:solidFill>
              </a:rPr>
              <a:t>Inference:</a:t>
            </a:r>
            <a:endParaRPr sz="3200" b="1" dirty="0">
              <a:solidFill>
                <a:schemeClr val="dk1"/>
              </a:solidFill>
            </a:endParaRPr>
          </a:p>
          <a:p>
            <a:pPr marL="18288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Volume is not a useful predictor for Close price in simple linear form.</a:t>
            </a:r>
            <a:br>
              <a:rPr lang="en" sz="3200" dirty="0">
                <a:solidFill>
                  <a:schemeClr val="dk1"/>
                </a:solidFill>
              </a:rPr>
            </a:br>
            <a:endParaRPr sz="3200" dirty="0">
              <a:solidFill>
                <a:schemeClr val="dk1"/>
              </a:solidFill>
            </a:endParaRPr>
          </a:p>
          <a:p>
            <a:pPr marL="18288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Univariate time series models (ARIMA) are more suitable.</a:t>
            </a:r>
            <a:endParaRPr sz="3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endParaRPr sz="40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endParaRPr sz="165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2400"/>
              </a:spcAft>
              <a:buNone/>
            </a:pPr>
            <a:endParaRPr sz="1650" dirty="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187" y="2304950"/>
            <a:ext cx="8809625" cy="38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3839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Open vs Close Relationship</a:t>
            </a:r>
            <a:endParaRPr b="1" u="sng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1828800" lvl="0" indent="0" algn="l" rtl="0">
              <a:lnSpc>
                <a:spcPct val="7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</a:rPr>
              <a:t>Observations:</a:t>
            </a:r>
            <a:endParaRPr sz="15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There is a strong positive linear relationship between Open and Close prices.</a:t>
            </a:r>
            <a:endParaRPr sz="15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Open price increases, the Close price almost increases proportionally.</a:t>
            </a:r>
            <a:endParaRPr sz="1500" dirty="0">
              <a:solidFill>
                <a:schemeClr val="dk1"/>
              </a:solidFill>
            </a:endParaRPr>
          </a:p>
          <a:p>
            <a:pPr marL="182880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</a:rPr>
              <a:t>           </a:t>
            </a:r>
            <a:r>
              <a:rPr lang="en" sz="1500" b="1" dirty="0">
                <a:solidFill>
                  <a:schemeClr val="dk1"/>
                </a:solidFill>
              </a:rPr>
              <a:t>Inference:</a:t>
            </a:r>
            <a:endParaRPr sz="15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This strong linear trend confirms that the stock price movement is consistent.</a:t>
            </a:r>
            <a:br>
              <a:rPr lang="en" sz="1500" dirty="0">
                <a:solidFill>
                  <a:schemeClr val="dk1"/>
                </a:solidFill>
              </a:rPr>
            </a:br>
            <a:endParaRPr sz="15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Such predictable behavior enhances the performance of forecasting models like ARIMA.</a:t>
            </a:r>
            <a:br>
              <a:rPr lang="en" sz="1500" dirty="0">
                <a:solidFill>
                  <a:schemeClr val="dk1"/>
                </a:solidFill>
              </a:rPr>
            </a:br>
            <a:endParaRPr sz="1500" dirty="0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025" y="2304950"/>
            <a:ext cx="7769950" cy="37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Correlation Heatmap</a:t>
            </a:r>
            <a:endParaRPr sz="5000" b="1" u="sng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182880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182880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8288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6000" b="1" dirty="0">
              <a:solidFill>
                <a:schemeClr val="dk1"/>
              </a:solidFill>
            </a:endParaRPr>
          </a:p>
          <a:p>
            <a:pPr marL="182880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chemeClr val="dk1"/>
                </a:solidFill>
              </a:rPr>
              <a:t>Observations:</a:t>
            </a:r>
            <a:endParaRPr sz="60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 dirty="0">
                <a:solidFill>
                  <a:schemeClr val="dk1"/>
                </a:solidFill>
              </a:rPr>
              <a:t>Price-related features (Open, High, Low, Close) are perfectly correlated.</a:t>
            </a:r>
            <a:br>
              <a:rPr lang="en" sz="6000" dirty="0">
                <a:solidFill>
                  <a:schemeClr val="dk1"/>
                </a:solidFill>
              </a:rPr>
            </a:br>
            <a:endParaRPr sz="60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 dirty="0">
                <a:solidFill>
                  <a:schemeClr val="dk1"/>
                </a:solidFill>
              </a:rPr>
              <a:t>Volume shows moderate negative correlation with all price variables.</a:t>
            </a:r>
            <a:br>
              <a:rPr lang="en" sz="6000" dirty="0">
                <a:solidFill>
                  <a:schemeClr val="dk1"/>
                </a:solidFill>
              </a:rPr>
            </a:br>
            <a:endParaRPr sz="6000" dirty="0">
              <a:solidFill>
                <a:schemeClr val="dk1"/>
              </a:solidFill>
            </a:endParaRPr>
          </a:p>
          <a:p>
            <a:pPr marL="18288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chemeClr val="dk1"/>
                </a:solidFill>
              </a:rPr>
              <a:t>Inferences</a:t>
            </a:r>
            <a:endParaRPr sz="60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 dirty="0">
                <a:solidFill>
                  <a:schemeClr val="dk1"/>
                </a:solidFill>
              </a:rPr>
              <a:t>Strong correlation among price variables indicates </a:t>
            </a:r>
            <a:r>
              <a:rPr lang="en" sz="6000" b="1" dirty="0">
                <a:solidFill>
                  <a:schemeClr val="dk1"/>
                </a:solidFill>
              </a:rPr>
              <a:t>consistent price movement and trend</a:t>
            </a:r>
            <a:r>
              <a:rPr lang="en" sz="6000" dirty="0">
                <a:solidFill>
                  <a:schemeClr val="dk1"/>
                </a:solidFill>
              </a:rPr>
              <a:t>, which is common in financial time-series data.</a:t>
            </a:r>
            <a:br>
              <a:rPr lang="en" sz="6000" dirty="0">
                <a:solidFill>
                  <a:schemeClr val="dk1"/>
                </a:solidFill>
              </a:rPr>
            </a:br>
            <a:endParaRPr sz="60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 dirty="0">
                <a:solidFill>
                  <a:schemeClr val="dk1"/>
                </a:solidFill>
              </a:rPr>
              <a:t>Volume behaves independently, showing that </a:t>
            </a:r>
            <a:r>
              <a:rPr lang="en" sz="6000" b="1" dirty="0">
                <a:solidFill>
                  <a:schemeClr val="dk1"/>
                </a:solidFill>
              </a:rPr>
              <a:t>trading activity and price movements are not directly proportional</a:t>
            </a:r>
            <a:r>
              <a:rPr lang="en" sz="6000" dirty="0">
                <a:solidFill>
                  <a:schemeClr val="dk1"/>
                </a:solidFill>
              </a:rPr>
              <a:t>.</a:t>
            </a:r>
            <a:br>
              <a:rPr lang="en" sz="6000" dirty="0">
                <a:solidFill>
                  <a:schemeClr val="dk1"/>
                </a:solidFill>
              </a:rPr>
            </a:br>
            <a:endParaRPr sz="60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 dirty="0">
                <a:solidFill>
                  <a:schemeClr val="dk1"/>
                </a:solidFill>
              </a:rPr>
              <a:t>Such correlation structure supports forecasting models like </a:t>
            </a:r>
            <a:r>
              <a:rPr lang="en" sz="6000" b="1" dirty="0">
                <a:solidFill>
                  <a:schemeClr val="dk1"/>
                </a:solidFill>
              </a:rPr>
              <a:t>ARIMA/SARIMA</a:t>
            </a:r>
            <a:r>
              <a:rPr lang="en" sz="6000" dirty="0">
                <a:solidFill>
                  <a:schemeClr val="dk1"/>
                </a:solidFill>
              </a:rPr>
              <a:t>, which perform well when data has trend and inter-feature dependency.</a:t>
            </a:r>
            <a:endParaRPr sz="60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2400"/>
              </a:spcAft>
              <a:buNone/>
            </a:pPr>
            <a:endParaRPr dirty="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350" y="2035450"/>
            <a:ext cx="8572500" cy="41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/>
              <a:t>Stock Close Price over Time</a:t>
            </a:r>
            <a:endParaRPr b="1" u="sng" dirty="0"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9334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137160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endParaRPr sz="155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" sz="2700" b="1" dirty="0">
                <a:solidFill>
                  <a:schemeClr val="dk1"/>
                </a:solidFill>
              </a:rPr>
              <a:t>                              </a:t>
            </a:r>
            <a:endParaRPr sz="27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endParaRPr sz="27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" sz="4600" b="1" dirty="0">
                <a:solidFill>
                  <a:schemeClr val="dk1"/>
                </a:solidFill>
              </a:rPr>
              <a:t>                            Observations</a:t>
            </a:r>
            <a:endParaRPr sz="46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The stock shows a </a:t>
            </a:r>
            <a:r>
              <a:rPr lang="en" sz="4600" b="1" dirty="0">
                <a:solidFill>
                  <a:schemeClr val="dk1"/>
                </a:solidFill>
              </a:rPr>
              <a:t>clear upward trend</a:t>
            </a:r>
            <a:r>
              <a:rPr lang="en" sz="4600" dirty="0">
                <a:solidFill>
                  <a:schemeClr val="dk1"/>
                </a:solidFill>
              </a:rPr>
              <a:t> from 2012 to 2020.</a:t>
            </a:r>
            <a:br>
              <a:rPr lang="en" sz="4600" dirty="0">
                <a:solidFill>
                  <a:schemeClr val="dk1"/>
                </a:solidFill>
              </a:rPr>
            </a:br>
            <a:endParaRPr sz="46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Prices experienced </a:t>
            </a:r>
            <a:r>
              <a:rPr lang="en" sz="4600" b="1" dirty="0">
                <a:solidFill>
                  <a:schemeClr val="dk1"/>
                </a:solidFill>
              </a:rPr>
              <a:t>short-term fluctuations</a:t>
            </a:r>
            <a:r>
              <a:rPr lang="en" sz="4600" dirty="0">
                <a:solidFill>
                  <a:schemeClr val="dk1"/>
                </a:solidFill>
              </a:rPr>
              <a:t>, including dips in 2013, 2016, and late 2018–2019.</a:t>
            </a:r>
            <a:br>
              <a:rPr lang="en" sz="4600" dirty="0">
                <a:solidFill>
                  <a:schemeClr val="dk1"/>
                </a:solidFill>
              </a:rPr>
            </a:br>
            <a:endParaRPr sz="46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Despite temporary declines, the overall price trend remains </a:t>
            </a:r>
            <a:r>
              <a:rPr lang="en" sz="4600" b="1" dirty="0">
                <a:solidFill>
                  <a:schemeClr val="dk1"/>
                </a:solidFill>
              </a:rPr>
              <a:t>strongly positive</a:t>
            </a:r>
            <a:r>
              <a:rPr lang="en" sz="4600" dirty="0">
                <a:solidFill>
                  <a:schemeClr val="dk1"/>
                </a:solidFill>
              </a:rPr>
              <a:t>, especially after 2019 where the price rises sharply.</a:t>
            </a:r>
            <a:br>
              <a:rPr lang="en" sz="4600" dirty="0">
                <a:solidFill>
                  <a:schemeClr val="dk1"/>
                </a:solidFill>
              </a:rPr>
            </a:br>
            <a:endParaRPr sz="4600" dirty="0">
              <a:solidFill>
                <a:schemeClr val="dk1"/>
              </a:solidFill>
            </a:endParaRPr>
          </a:p>
          <a:p>
            <a:pPr marL="18288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" sz="4600" b="1" dirty="0">
                <a:solidFill>
                  <a:schemeClr val="dk1"/>
                </a:solidFill>
              </a:rPr>
              <a:t>Inferences</a:t>
            </a:r>
            <a:endParaRPr sz="4600" b="1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The strong upward trend indicates that the stock has </a:t>
            </a:r>
            <a:r>
              <a:rPr lang="en" sz="4600" b="1" dirty="0">
                <a:solidFill>
                  <a:schemeClr val="dk1"/>
                </a:solidFill>
              </a:rPr>
              <a:t>grown consistently over time</a:t>
            </a:r>
            <a:r>
              <a:rPr lang="en" sz="4600" dirty="0">
                <a:solidFill>
                  <a:schemeClr val="dk1"/>
                </a:solidFill>
              </a:rPr>
              <a:t>, making it suitable for forecasting using time-series models like </a:t>
            </a:r>
            <a:r>
              <a:rPr lang="en" sz="4600" b="1" dirty="0">
                <a:solidFill>
                  <a:schemeClr val="dk1"/>
                </a:solidFill>
              </a:rPr>
              <a:t>ARIMA/SARIMA</a:t>
            </a:r>
            <a:r>
              <a:rPr lang="en" sz="4600" dirty="0">
                <a:solidFill>
                  <a:schemeClr val="dk1"/>
                </a:solidFill>
              </a:rPr>
              <a:t>.</a:t>
            </a:r>
            <a:br>
              <a:rPr lang="en" sz="4600" dirty="0">
                <a:solidFill>
                  <a:schemeClr val="dk1"/>
                </a:solidFill>
              </a:rPr>
            </a:br>
            <a:endParaRPr sz="46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The presence of volatility shows market reactions to economic events, making </a:t>
            </a:r>
            <a:r>
              <a:rPr lang="en" sz="4600" b="1" dirty="0">
                <a:solidFill>
                  <a:schemeClr val="dk1"/>
                </a:solidFill>
              </a:rPr>
              <a:t>30-day forecasting meaningful for investors</a:t>
            </a:r>
            <a:r>
              <a:rPr lang="en" sz="4600" dirty="0">
                <a:solidFill>
                  <a:schemeClr val="dk1"/>
                </a:solidFill>
              </a:rPr>
              <a:t>.</a:t>
            </a:r>
            <a:br>
              <a:rPr lang="en" sz="4600" dirty="0">
                <a:solidFill>
                  <a:schemeClr val="dk1"/>
                </a:solidFill>
              </a:rPr>
            </a:br>
            <a:endParaRPr sz="4600" dirty="0">
              <a:solidFill>
                <a:schemeClr val="dk1"/>
              </a:solidFill>
            </a:endParaRPr>
          </a:p>
          <a:p>
            <a:pPr marL="2286000" lvl="0" indent="-3111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600" dirty="0">
                <a:solidFill>
                  <a:schemeClr val="dk1"/>
                </a:solidFill>
              </a:rPr>
              <a:t>The long-term increase suggests </a:t>
            </a:r>
            <a:r>
              <a:rPr lang="en" sz="4600" b="1" dirty="0">
                <a:solidFill>
                  <a:schemeClr val="dk1"/>
                </a:solidFill>
              </a:rPr>
              <a:t>high investor confidence and continuous growth in Apple's market value</a:t>
            </a:r>
            <a:r>
              <a:rPr lang="en" sz="4600" dirty="0">
                <a:solidFill>
                  <a:schemeClr val="dk1"/>
                </a:solidFill>
              </a:rPr>
              <a:t>.</a:t>
            </a:r>
            <a:endParaRPr sz="4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4000" dirty="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525" y="2304950"/>
            <a:ext cx="7164728" cy="38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Visual Check for Outliers</a:t>
            </a:r>
            <a:endParaRPr sz="5000" b="1" u="sng"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664600" cy="78603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dirty="0"/>
          </a:p>
          <a:p>
            <a:pPr marL="137160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1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1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1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5200" b="1" dirty="0">
                <a:solidFill>
                  <a:schemeClr val="dk1"/>
                </a:solidFill>
              </a:rPr>
              <a:t>Observations</a:t>
            </a:r>
            <a:endParaRPr sz="5200" b="1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Most numerical features (Open, High, Low, Close, Adj Close, Year, Month, Day, Log_Close) show </a:t>
            </a:r>
            <a:r>
              <a:rPr lang="en" sz="5200" b="1" dirty="0">
                <a:solidFill>
                  <a:schemeClr val="dk1"/>
                </a:solidFill>
              </a:rPr>
              <a:t>very few or no outliers</a:t>
            </a:r>
            <a:r>
              <a:rPr lang="en" sz="5200" dirty="0">
                <a:solidFill>
                  <a:schemeClr val="dk1"/>
                </a:solidFill>
              </a:rPr>
              <a:t>.</a:t>
            </a:r>
            <a:br>
              <a:rPr lang="en" sz="5200" dirty="0">
                <a:solidFill>
                  <a:schemeClr val="dk1"/>
                </a:solidFill>
              </a:rPr>
            </a:br>
            <a:endParaRPr sz="5200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The </a:t>
            </a:r>
            <a:r>
              <a:rPr lang="en" sz="5200" b="1" dirty="0">
                <a:solidFill>
                  <a:schemeClr val="dk1"/>
                </a:solidFill>
              </a:rPr>
              <a:t>Volume</a:t>
            </a:r>
            <a:r>
              <a:rPr lang="en" sz="5200" dirty="0">
                <a:solidFill>
                  <a:schemeClr val="dk1"/>
                </a:solidFill>
              </a:rPr>
              <a:t> feature contains a </a:t>
            </a:r>
            <a:r>
              <a:rPr lang="en" sz="5200" b="1" dirty="0">
                <a:solidFill>
                  <a:schemeClr val="dk1"/>
                </a:solidFill>
              </a:rPr>
              <a:t>large number of outliers</a:t>
            </a:r>
            <a:r>
              <a:rPr lang="en" sz="5200" dirty="0">
                <a:solidFill>
                  <a:schemeClr val="dk1"/>
                </a:solidFill>
              </a:rPr>
              <a:t>, clearly visible as points far above the upper whisker.</a:t>
            </a:r>
            <a:br>
              <a:rPr lang="en" sz="5200" dirty="0">
                <a:solidFill>
                  <a:schemeClr val="dk1"/>
                </a:solidFill>
              </a:rPr>
            </a:br>
            <a:endParaRPr sz="5200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This indicates that trading volume fluctuates a lot, especially during events like product launches, earnings announcements, or market-wide movements.</a:t>
            </a:r>
            <a:br>
              <a:rPr lang="en" sz="5200" dirty="0">
                <a:solidFill>
                  <a:schemeClr val="dk1"/>
                </a:solidFill>
              </a:rPr>
            </a:br>
            <a:endParaRPr sz="5200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5200" b="1" dirty="0">
                <a:solidFill>
                  <a:schemeClr val="dk1"/>
                </a:solidFill>
              </a:rPr>
              <a:t>Inferences</a:t>
            </a:r>
            <a:endParaRPr sz="52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5200" b="1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The presence of many outliers in Volume suggests </a:t>
            </a:r>
            <a:r>
              <a:rPr lang="en" sz="5200" b="1" dirty="0">
                <a:solidFill>
                  <a:schemeClr val="dk1"/>
                </a:solidFill>
              </a:rPr>
              <a:t>high volatility in trading activity</a:t>
            </a:r>
            <a:r>
              <a:rPr lang="en" sz="5200" dirty="0">
                <a:solidFill>
                  <a:schemeClr val="dk1"/>
                </a:solidFill>
              </a:rPr>
              <a:t>, which is typical for large companies like Apple.</a:t>
            </a:r>
            <a:br>
              <a:rPr lang="en" sz="5200" dirty="0">
                <a:solidFill>
                  <a:schemeClr val="dk1"/>
                </a:solidFill>
              </a:rPr>
            </a:br>
            <a:endParaRPr sz="5200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Since Volume does not directly impact the ARIMA model(which focuses on Close Price trend), these outliers do </a:t>
            </a:r>
            <a:r>
              <a:rPr lang="en" sz="5200" b="1" dirty="0">
                <a:solidFill>
                  <a:schemeClr val="dk1"/>
                </a:solidFill>
              </a:rPr>
              <a:t>not negatively affect forecasting performance</a:t>
            </a:r>
            <a:r>
              <a:rPr lang="en" sz="5200" dirty="0">
                <a:solidFill>
                  <a:schemeClr val="dk1"/>
                </a:solidFill>
              </a:rPr>
              <a:t>.</a:t>
            </a:r>
            <a:br>
              <a:rPr lang="en" sz="5200" dirty="0">
                <a:solidFill>
                  <a:schemeClr val="dk1"/>
                </a:solidFill>
              </a:rPr>
            </a:br>
            <a:endParaRPr sz="5200" dirty="0">
              <a:solidFill>
                <a:schemeClr val="dk1"/>
              </a:solidFill>
            </a:endParaRPr>
          </a:p>
          <a:p>
            <a:pPr marL="1828800" lvl="0" indent="-33591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 dirty="0">
                <a:solidFill>
                  <a:schemeClr val="dk1"/>
                </a:solidFill>
              </a:rPr>
              <a:t>The remaining features are stable and do not require additional outlier treatment.</a:t>
            </a:r>
            <a:endParaRPr sz="5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2400"/>
              </a:spcAft>
              <a:buNone/>
            </a:pPr>
            <a:endParaRPr sz="5200" dirty="0"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125" y="2304950"/>
            <a:ext cx="8289750" cy="37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>
                <a:highlight>
                  <a:schemeClr val="lt1"/>
                </a:highlight>
              </a:rPr>
              <a:t>Communicate Findings and Insights from EDA</a:t>
            </a:r>
            <a:endParaRPr sz="5000" b="1" u="sng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0" u="sng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0" u="sng"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650759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</a:endParaRPr>
          </a:p>
          <a:p>
            <a:pPr marL="914400" lvl="0" indent="-4191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Close and Open price has highly correlated</a:t>
            </a:r>
            <a:endParaRPr sz="3000">
              <a:solidFill>
                <a:schemeClr val="dk1"/>
              </a:solidFill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Volume has weaker correlation with price</a:t>
            </a:r>
            <a:endParaRPr sz="3000">
              <a:solidFill>
                <a:schemeClr val="dk1"/>
              </a:solidFill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Some outliers is found in volume but Its common.</a:t>
            </a:r>
            <a:endParaRPr sz="3000">
              <a:solidFill>
                <a:schemeClr val="dk1"/>
              </a:solidFill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Price generally increased over time , but with volatility.</a:t>
            </a:r>
            <a:endParaRPr sz="3000">
              <a:solidFill>
                <a:schemeClr val="dk1"/>
              </a:solidFill>
            </a:endParaRPr>
          </a:p>
          <a:p>
            <a:pPr marL="9144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Data is now ready for Feature Engineering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Apple Stock Volatility Over Time</a:t>
            </a:r>
            <a:endParaRPr sz="5000" b="1" u="sng"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8426000" cy="79821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 fontScale="3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75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75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75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400" b="1">
                <a:solidFill>
                  <a:schemeClr val="dk1"/>
                </a:solidFill>
              </a:rPr>
              <a:t>                                           </a:t>
            </a:r>
            <a:r>
              <a:rPr lang="en" sz="5200" b="1">
                <a:solidFill>
                  <a:schemeClr val="dk1"/>
                </a:solidFill>
              </a:rPr>
              <a:t>  Observations</a:t>
            </a:r>
            <a:endParaRPr sz="5200" b="1">
              <a:solidFill>
                <a:schemeClr val="dk1"/>
              </a:solidFill>
            </a:endParaRPr>
          </a:p>
          <a:p>
            <a:pPr marL="2743200" lvl="0" indent="-33591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The 30-day rolling volatility shows </a:t>
            </a:r>
            <a:r>
              <a:rPr lang="en" sz="5200" b="1">
                <a:solidFill>
                  <a:schemeClr val="dk1"/>
                </a:solidFill>
              </a:rPr>
              <a:t>regular fluctuations</a:t>
            </a:r>
            <a:r>
              <a:rPr lang="en" sz="5200">
                <a:solidFill>
                  <a:schemeClr val="dk1"/>
                </a:solidFill>
              </a:rPr>
              <a:t>, indicating frequent short-term price movements in Apple stock.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2743200" lvl="0" indent="-33591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Certain periods (e.g., </a:t>
            </a:r>
            <a:r>
              <a:rPr lang="en" sz="5200" b="1">
                <a:solidFill>
                  <a:schemeClr val="dk1"/>
                </a:solidFill>
              </a:rPr>
              <a:t>2013, 2015, and late 2018–2019</a:t>
            </a:r>
            <a:r>
              <a:rPr lang="en" sz="5200">
                <a:solidFill>
                  <a:schemeClr val="dk1"/>
                </a:solidFill>
              </a:rPr>
              <a:t>) show </a:t>
            </a:r>
            <a:r>
              <a:rPr lang="en" sz="5200" b="1">
                <a:solidFill>
                  <a:schemeClr val="dk1"/>
                </a:solidFill>
              </a:rPr>
              <a:t>significant spikes</a:t>
            </a:r>
            <a:r>
              <a:rPr lang="en" sz="5200">
                <a:solidFill>
                  <a:schemeClr val="dk1"/>
                </a:solidFill>
              </a:rPr>
              <a:t>, meaning the stock experienced higher uncertainty or rapid price swings.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2743200" lvl="0" indent="-335914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Periods with lower volatility indicate </a:t>
            </a:r>
            <a:r>
              <a:rPr lang="en" sz="5200" b="1">
                <a:solidFill>
                  <a:schemeClr val="dk1"/>
                </a:solidFill>
              </a:rPr>
              <a:t>more stable price behavior</a:t>
            </a:r>
            <a:r>
              <a:rPr lang="en" sz="5200">
                <a:solidFill>
                  <a:schemeClr val="dk1"/>
                </a:solidFill>
              </a:rPr>
              <a:t>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228600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5200" b="1">
                <a:solidFill>
                  <a:schemeClr val="dk1"/>
                </a:solidFill>
              </a:rPr>
              <a:t>Inferences</a:t>
            </a:r>
            <a:endParaRPr sz="5200" b="1">
              <a:solidFill>
                <a:schemeClr val="dk1"/>
              </a:solidFill>
            </a:endParaRPr>
          </a:p>
          <a:p>
            <a:pPr marL="2743200" lvl="0" indent="-33591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Volatility spikes often align with </a:t>
            </a:r>
            <a:r>
              <a:rPr lang="en" sz="5200" b="1">
                <a:solidFill>
                  <a:schemeClr val="dk1"/>
                </a:solidFill>
              </a:rPr>
              <a:t>major market events, earnings announcements, or global economic changes</a:t>
            </a:r>
            <a:r>
              <a:rPr lang="en" sz="5200">
                <a:solidFill>
                  <a:schemeClr val="dk1"/>
                </a:solidFill>
              </a:rPr>
              <a:t>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2743200" lvl="0" indent="-33591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Understanding volatility helps in forecasting because </a:t>
            </a:r>
            <a:r>
              <a:rPr lang="en" sz="5200" b="1">
                <a:solidFill>
                  <a:schemeClr val="dk1"/>
                </a:solidFill>
              </a:rPr>
              <a:t>higher volatility increases unpredictability</a:t>
            </a:r>
            <a:r>
              <a:rPr lang="en" sz="5200">
                <a:solidFill>
                  <a:schemeClr val="dk1"/>
                </a:solidFill>
              </a:rPr>
              <a:t>, making it important for selecting forecasting models.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2743200" lvl="0" indent="-33591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Despite fluctuations, volatility remains within a </a:t>
            </a:r>
            <a:r>
              <a:rPr lang="en" sz="5200" b="1">
                <a:solidFill>
                  <a:schemeClr val="dk1"/>
                </a:solidFill>
              </a:rPr>
              <a:t>reasonable range for a tech stock</a:t>
            </a:r>
            <a:r>
              <a:rPr lang="en" sz="5200">
                <a:solidFill>
                  <a:schemeClr val="dk1"/>
                </a:solidFill>
              </a:rPr>
              <a:t>, indicating Apple’s long-term stability.</a:t>
            </a:r>
            <a:endParaRPr sz="5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2400"/>
              </a:spcAft>
              <a:buNone/>
            </a:pPr>
            <a:endParaRPr sz="5200"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225" y="1921925"/>
            <a:ext cx="10177551" cy="43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Data Preprocessing</a:t>
            </a:r>
            <a:endParaRPr sz="5000" b="1" u="sng"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623400" y="227760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chemeClr val="dk1"/>
                </a:solidFill>
              </a:rPr>
              <a:t>Data Preprocessing Steps:</a:t>
            </a:r>
            <a:r>
              <a:rPr lang="en" sz="2000" b="1">
                <a:solidFill>
                  <a:schemeClr val="dk1"/>
                </a:solidFill>
              </a:rPr>
              <a:t> </a:t>
            </a:r>
            <a:endParaRPr sz="2000" b="1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Checked dataset for missing values and inconsistencies.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Converted </a:t>
            </a:r>
            <a:r>
              <a:rPr lang="en" sz="1800" b="1">
                <a:solidFill>
                  <a:schemeClr val="dk1"/>
                </a:solidFill>
              </a:rPr>
              <a:t>Date</a:t>
            </a:r>
            <a:r>
              <a:rPr lang="en" sz="1800">
                <a:solidFill>
                  <a:schemeClr val="dk1"/>
                </a:solidFill>
              </a:rPr>
              <a:t> column into datetime format and used it as index.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Extracted additional time-based features: </a:t>
            </a:r>
            <a:r>
              <a:rPr lang="en" sz="1800" b="1">
                <a:solidFill>
                  <a:schemeClr val="dk1"/>
                </a:solidFill>
              </a:rPr>
              <a:t>Year, Month, Day</a:t>
            </a:r>
            <a:r>
              <a:rPr lang="en" sz="1800">
                <a:solidFill>
                  <a:schemeClr val="dk1"/>
                </a:solidFill>
              </a:rPr>
              <a:t>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Performed </a:t>
            </a:r>
            <a:r>
              <a:rPr lang="en" sz="1800" b="1">
                <a:solidFill>
                  <a:schemeClr val="dk1"/>
                </a:solidFill>
              </a:rPr>
              <a:t>visual outlier check</a:t>
            </a:r>
            <a:r>
              <a:rPr lang="en" sz="1800">
                <a:solidFill>
                  <a:schemeClr val="dk1"/>
                </a:solidFill>
              </a:rPr>
              <a:t> using boxplots.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Applied transformations (like log) wherever needed to stabilize variance.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800">
                <a:solidFill>
                  <a:schemeClr val="dk1"/>
                </a:solidFill>
              </a:rPr>
              <a:t>Split the dataset into </a:t>
            </a:r>
            <a:r>
              <a:rPr lang="en" sz="1800" b="1">
                <a:solidFill>
                  <a:schemeClr val="dk1"/>
                </a:solidFill>
              </a:rPr>
              <a:t>training and testing sets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Feature Engineering</a:t>
            </a:r>
            <a:endParaRPr sz="5000" b="1" u="sng"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623400" y="2035450"/>
            <a:ext cx="17041200" cy="8704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9144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1. Date Column Breakdown</a:t>
            </a: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Extracted </a:t>
            </a:r>
            <a:r>
              <a:rPr lang="en" sz="1300" b="1" dirty="0">
                <a:solidFill>
                  <a:schemeClr val="dk1"/>
                </a:solidFill>
              </a:rPr>
              <a:t>Year</a:t>
            </a:r>
            <a:r>
              <a:rPr lang="en" sz="1300" dirty="0">
                <a:solidFill>
                  <a:schemeClr val="dk1"/>
                </a:solidFill>
              </a:rPr>
              <a:t>, </a:t>
            </a:r>
            <a:r>
              <a:rPr lang="en" sz="1300" b="1" dirty="0">
                <a:solidFill>
                  <a:schemeClr val="dk1"/>
                </a:solidFill>
              </a:rPr>
              <a:t>Month</a:t>
            </a:r>
            <a:r>
              <a:rPr lang="en" sz="1300" dirty="0">
                <a:solidFill>
                  <a:schemeClr val="dk1"/>
                </a:solidFill>
              </a:rPr>
              <a:t>, and </a:t>
            </a:r>
            <a:r>
              <a:rPr lang="en" sz="1300" b="1" dirty="0">
                <a:solidFill>
                  <a:schemeClr val="dk1"/>
                </a:solidFill>
              </a:rPr>
              <a:t>Day</a:t>
            </a:r>
            <a:r>
              <a:rPr lang="en" sz="1300" dirty="0">
                <a:solidFill>
                  <a:schemeClr val="dk1"/>
                </a:solidFill>
              </a:rPr>
              <a:t> from the </a:t>
            </a:r>
            <a:r>
              <a:rPr lang="en" sz="1300" dirty="0">
                <a:solidFill>
                  <a:srgbClr val="188038"/>
                </a:solidFill>
              </a:rPr>
              <a:t>Date</a:t>
            </a:r>
            <a:r>
              <a:rPr lang="en" sz="1300" dirty="0">
                <a:solidFill>
                  <a:schemeClr val="dk1"/>
                </a:solidFill>
              </a:rPr>
              <a:t> column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Helped understand </a:t>
            </a:r>
            <a:r>
              <a:rPr lang="en" sz="1300" b="1" dirty="0">
                <a:solidFill>
                  <a:schemeClr val="dk1"/>
                </a:solidFill>
              </a:rPr>
              <a:t>seasonality</a:t>
            </a:r>
            <a:r>
              <a:rPr lang="en" sz="1300" dirty="0">
                <a:solidFill>
                  <a:schemeClr val="dk1"/>
                </a:solidFill>
              </a:rPr>
              <a:t> and </a:t>
            </a:r>
            <a:r>
              <a:rPr lang="en" sz="1300" b="1" dirty="0">
                <a:solidFill>
                  <a:schemeClr val="dk1"/>
                </a:solidFill>
              </a:rPr>
              <a:t>monthly trends</a:t>
            </a:r>
            <a:br>
              <a:rPr lang="en" sz="1300" b="1" dirty="0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                   2. Log Transformation</a:t>
            </a: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Applied </a:t>
            </a:r>
            <a:r>
              <a:rPr lang="en" sz="1300" b="1" dirty="0">
                <a:solidFill>
                  <a:schemeClr val="dk1"/>
                </a:solidFill>
              </a:rPr>
              <a:t>Log transformation on Close Price (</a:t>
            </a:r>
            <a:r>
              <a:rPr lang="en" sz="1300" b="1" dirty="0">
                <a:solidFill>
                  <a:srgbClr val="188038"/>
                </a:solidFill>
              </a:rPr>
              <a:t>Log_Close</a:t>
            </a:r>
            <a:r>
              <a:rPr lang="en" sz="1300" b="1" dirty="0">
                <a:solidFill>
                  <a:schemeClr val="dk1"/>
                </a:solidFill>
              </a:rPr>
              <a:t>)</a:t>
            </a:r>
            <a:br>
              <a:rPr lang="en" sz="1300" b="1" dirty="0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Reduced skewness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Made the data more suitable for time-series models (ARIMA/SARIMA)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                 </a:t>
            </a:r>
            <a:r>
              <a:rPr lang="en" sz="1300" b="1" dirty="0">
                <a:solidFill>
                  <a:schemeClr val="dk1"/>
                </a:solidFill>
              </a:rPr>
              <a:t>3. Moving Averages</a:t>
            </a: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Created </a:t>
            </a:r>
            <a:r>
              <a:rPr lang="en" sz="1300" b="1">
                <a:solidFill>
                  <a:schemeClr val="dk1"/>
                </a:solidFill>
              </a:rPr>
              <a:t>MA7, MA20, MA30</a:t>
            </a:r>
            <a:br>
              <a:rPr lang="en" sz="1300" b="1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Helped capture trend &amp; support/resistance levels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Useful for understanding long-term behavior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      	       </a:t>
            </a:r>
            <a:r>
              <a:rPr lang="en" sz="1300" b="1" dirty="0">
                <a:solidFill>
                  <a:schemeClr val="dk1"/>
                </a:solidFill>
              </a:rPr>
              <a:t>4. Volatility Feature</a:t>
            </a: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Created </a:t>
            </a:r>
            <a:r>
              <a:rPr lang="en" sz="1300" b="1" dirty="0">
                <a:solidFill>
                  <a:schemeClr val="dk1"/>
                </a:solidFill>
              </a:rPr>
              <a:t>30-Day Rolling Volatility</a:t>
            </a:r>
            <a:br>
              <a:rPr lang="en" sz="1300" b="1" dirty="0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Helped identify high-risk and low-risk periods in the stock</a:t>
            </a:r>
            <a:br>
              <a:rPr lang="en" sz="1300" dirty="0">
                <a:solidFill>
                  <a:schemeClr val="dk1"/>
                </a:solidFill>
              </a:rPr>
            </a:b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                 </a:t>
            </a:r>
            <a:r>
              <a:rPr lang="en" sz="1300" b="1" dirty="0">
                <a:solidFill>
                  <a:schemeClr val="dk1"/>
                </a:solidFill>
              </a:rPr>
              <a:t>5. Outlier Detection (Visual + Statistical)</a:t>
            </a: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Boxplot used to detect outliers, mostly in </a:t>
            </a:r>
            <a:r>
              <a:rPr lang="en" sz="1300" b="1" dirty="0">
                <a:solidFill>
                  <a:schemeClr val="dk1"/>
                </a:solidFill>
              </a:rPr>
              <a:t>Volume</a:t>
            </a:r>
            <a:br>
              <a:rPr lang="en" sz="1300" b="1" dirty="0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Outliers kept as-is since they represent real market fluctuations</a:t>
            </a:r>
            <a:endParaRPr sz="13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Comparison</a:t>
            </a:r>
            <a:endParaRPr b="1" u="sng"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76413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endParaRPr/>
          </a:p>
        </p:txBody>
      </p:sp>
      <p:graphicFrame>
        <p:nvGraphicFramePr>
          <p:cNvPr id="146" name="Google Shape;146;p27"/>
          <p:cNvGraphicFramePr/>
          <p:nvPr/>
        </p:nvGraphicFramePr>
        <p:xfrm>
          <a:off x="979859" y="2304950"/>
          <a:ext cx="16383000" cy="6548641"/>
        </p:xfrm>
        <a:graphic>
          <a:graphicData uri="http://schemas.openxmlformats.org/drawingml/2006/table">
            <a:tbl>
              <a:tblPr>
                <a:noFill/>
                <a:tableStyleId>{5AEDC239-AC67-4689-BD79-165F5BB94E70}</a:tableStyleId>
              </a:tblPr>
              <a:tblGrid>
                <a:gridCol w="70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Before Feature Engineering</a:t>
                      </a: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The dataset originally contained basic stock attributes such as </a:t>
                      </a:r>
                      <a:r>
                        <a:rPr lang="en" sz="1300" i="1">
                          <a:solidFill>
                            <a:schemeClr val="dk1"/>
                          </a:solidFill>
                        </a:rPr>
                        <a:t>Open, High, Low, Close, Adj Close,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1300" i="1">
                          <a:solidFill>
                            <a:schemeClr val="dk1"/>
                          </a:solidFill>
                        </a:rPr>
                        <a:t>Volume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After Feature Engineering</a:t>
                      </a: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New features were created to improve forecasting accuracy: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Date-based Features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 Year, Month, Day, Weekday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Moving Averages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 MA_7, MA_30, MA_90 (captures trend)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Volatility Features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 Volatility_7, Volatility_30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Returns Features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 Daily_Return, Returns_7, Returns_30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Range Features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 High-Low Range, Open-Close Range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75" y="2531950"/>
            <a:ext cx="6734100" cy="24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9900" y="2531950"/>
            <a:ext cx="9017676" cy="259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27"/>
          <p:cNvGraphicFramePr/>
          <p:nvPr/>
        </p:nvGraphicFramePr>
        <p:xfrm>
          <a:off x="952500" y="8473350"/>
          <a:ext cx="16383000" cy="1472900"/>
        </p:xfrm>
        <a:graphic>
          <a:graphicData uri="http://schemas.openxmlformats.org/drawingml/2006/table">
            <a:tbl>
              <a:tblPr>
                <a:noFill/>
                <a:tableStyleId>{5AEDC239-AC67-4689-BD79-165F5BB94E70}</a:tableStyleId>
              </a:tblPr>
              <a:tblGrid>
                <a:gridCol w="163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7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5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b="1">
                          <a:solidFill>
                            <a:schemeClr val="dk1"/>
                          </a:solidFill>
                        </a:rPr>
                        <a:t>Purpose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: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These engineered features help the model understand trends, seasonal patterns, volatility, and price behavior more accurately.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Model Selection Approach</a:t>
            </a:r>
            <a:endParaRPr b="1" u="sng"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Why These Models?</a:t>
            </a:r>
            <a:endParaRPr sz="16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To achieve accurate 30-day forecasting, three different approaches were used:</a:t>
            </a:r>
            <a:endParaRPr sz="16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>
                <a:solidFill>
                  <a:schemeClr val="dk1"/>
                </a:solidFill>
              </a:rPr>
              <a:t>ARIMA</a:t>
            </a:r>
            <a:br>
              <a:rPr lang="en" sz="1600" b="1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Best for time-series with trend patterns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>
                <a:solidFill>
                  <a:schemeClr val="dk1"/>
                </a:solidFill>
              </a:rPr>
              <a:t>SARIMA</a:t>
            </a:r>
            <a:br>
              <a:rPr lang="en" sz="1600" b="1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Captures both trend + seasonality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b="1">
                <a:solidFill>
                  <a:schemeClr val="dk1"/>
                </a:solidFill>
              </a:rPr>
              <a:t>XGBoost</a:t>
            </a:r>
            <a:br>
              <a:rPr lang="en" sz="1600" b="1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Machine Learning model that learns non-linear patterns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Using these three models helps compare </a:t>
            </a:r>
            <a:r>
              <a:rPr lang="en" sz="1600" b="1">
                <a:solidFill>
                  <a:schemeClr val="dk1"/>
                </a:solidFill>
              </a:rPr>
              <a:t>statistical vs. ML-based forecasting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ARIMA Model</a:t>
            </a:r>
            <a:endParaRPr b="1" u="sng"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9144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ARIMA (AutoRegressive Integrated Moving Average)</a:t>
            </a:r>
            <a:endParaRPr sz="1600" b="1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used to capture trend-based behavior in the stock price.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parameters (p, d, q) selected using ACF/PACF analysis.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Trained on historical Close Price values.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Generated </a:t>
            </a:r>
            <a:r>
              <a:rPr lang="en" sz="1600" b="1">
                <a:solidFill>
                  <a:schemeClr val="dk1"/>
                </a:solidFill>
              </a:rPr>
              <a:t>30-day future forecast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Inferences</a:t>
            </a:r>
            <a:endParaRPr sz="1600" b="1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ARIMA captured long-term trend well.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Slightly higher error compared to SARIMA.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SARIMA Model</a:t>
            </a:r>
            <a:endParaRPr b="1" u="sng"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SARIMA (Seasonal ARIMA)</a:t>
            </a:r>
            <a:endParaRPr sz="1600" b="1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Extended ARIMA with seasonal terms.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Seasonal order (P, D, Q, S) added to capture repeating stock patterns.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Performed well in modeling short-term seasonal fluctuations.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Inferences</a:t>
            </a:r>
            <a:endParaRPr sz="1600" b="1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Produced better accuracy than ARIMA.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Represented seasonality effectively.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90000"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XGBoost Model</a:t>
            </a:r>
            <a:endParaRPr b="1" u="sng"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XGBoost Regressor</a:t>
            </a:r>
            <a:endParaRPr sz="1600" b="1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Machine-learning approach for stock forecasting.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multiple features: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i="1">
                <a:solidFill>
                  <a:schemeClr val="dk1"/>
                </a:solidFill>
              </a:rPr>
              <a:t>Open, High, Low, Close, Adj Close, Volume, Year, Month, Day.</a:t>
            </a:r>
            <a:br>
              <a:rPr lang="en" sz="1600" i="1">
                <a:solidFill>
                  <a:schemeClr val="dk1"/>
                </a:solidFill>
              </a:rPr>
            </a:br>
            <a:endParaRPr sz="1600" i="1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Captures complex non-linear relationships between features.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Inferences</a:t>
            </a:r>
            <a:endParaRPr sz="1600" b="1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Performed poorly compared to ARIMA/SARIMA.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18288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Higher error due to non-stationary nature of stock prices.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23400" y="835325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u="sng"/>
              <a:t>Model Evaluation Table (MSE &amp; MAE)</a:t>
            </a:r>
            <a:endParaRPr sz="4400" b="1" u="sng"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endParaRPr/>
          </a:p>
        </p:txBody>
      </p:sp>
      <p:graphicFrame>
        <p:nvGraphicFramePr>
          <p:cNvPr id="180" name="Google Shape;180;p32"/>
          <p:cNvGraphicFramePr/>
          <p:nvPr/>
        </p:nvGraphicFramePr>
        <p:xfrm>
          <a:off x="1144000" y="24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{5AEDC239-AC67-4689-BD79-165F5BB94E70}</a:tableStyleId>
              </a:tblPr>
              <a:tblGrid>
                <a:gridCol w="324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8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/>
                        <a:t>Model</a:t>
                      </a:r>
                      <a:endParaRPr sz="3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>
                          <a:solidFill>
                            <a:schemeClr val="dk1"/>
                          </a:solidFill>
                        </a:rPr>
                        <a:t>MAE</a:t>
                      </a:r>
                      <a:endParaRPr sz="3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000" b="1">
                          <a:solidFill>
                            <a:schemeClr val="dk1"/>
                          </a:solidFill>
                        </a:rPr>
                        <a:t>MSE</a:t>
                      </a:r>
                      <a:endParaRPr sz="3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/>
                        <a:t>Conclusion</a:t>
                      </a:r>
                      <a:endParaRPr sz="3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/>
                        <a:t>ARIMA</a:t>
                      </a:r>
                      <a:endParaRPr sz="2000" u="sng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9.85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13.21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Good trend prediction but not the best.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3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/>
                        <a:t>SARIMA</a:t>
                      </a:r>
                      <a:endParaRPr sz="2000" u="sng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7.83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115.56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Most accurate model for 30-day forecasting.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0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/>
                        <a:t>XGBoost</a:t>
                      </a:r>
                      <a:endParaRPr sz="2000" u="sng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19.26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925.85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High error; not ideal for time series.</a:t>
                      </a:r>
                      <a:endParaRPr sz="2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Model Evaluation – MSE &amp; MAE Comparison</a:t>
            </a:r>
            <a:endParaRPr sz="5000" b="1" u="sng"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82707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endParaRPr sz="185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r>
              <a:rPr lang="en" sz="1850" b="1">
                <a:solidFill>
                  <a:schemeClr val="dk1"/>
                </a:solidFill>
              </a:rPr>
              <a:t>Key Observations:</a:t>
            </a:r>
            <a:endParaRPr sz="1850" b="1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 b="1">
                <a:solidFill>
                  <a:schemeClr val="dk1"/>
                </a:solidFill>
              </a:rPr>
              <a:t>SARIMA has the lowest MAE (7.83)</a:t>
            </a:r>
            <a:r>
              <a:rPr lang="en" sz="1850">
                <a:solidFill>
                  <a:schemeClr val="dk1"/>
                </a:solidFill>
              </a:rPr>
              <a:t> → meaning it predicts closest to actual values.</a:t>
            </a:r>
            <a:br>
              <a:rPr lang="en" sz="1850">
                <a:solidFill>
                  <a:schemeClr val="dk1"/>
                </a:solidFill>
              </a:rPr>
            </a:br>
            <a:endParaRPr sz="1850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 b="1">
                <a:solidFill>
                  <a:schemeClr val="dk1"/>
                </a:solidFill>
              </a:rPr>
              <a:t>ARIMA has very low MSE</a:t>
            </a:r>
            <a:r>
              <a:rPr lang="en" sz="1850">
                <a:solidFill>
                  <a:schemeClr val="dk1"/>
                </a:solidFill>
              </a:rPr>
              <a:t>, but slightly higher MAE than SARIMA.</a:t>
            </a:r>
            <a:br>
              <a:rPr lang="en" sz="1850">
                <a:solidFill>
                  <a:schemeClr val="dk1"/>
                </a:solidFill>
              </a:rPr>
            </a:br>
            <a:endParaRPr sz="1850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 b="1">
                <a:solidFill>
                  <a:schemeClr val="dk1"/>
                </a:solidFill>
              </a:rPr>
              <a:t>XGBoost performs the worst</a:t>
            </a:r>
            <a:r>
              <a:rPr lang="en" sz="1850">
                <a:solidFill>
                  <a:schemeClr val="dk1"/>
                </a:solidFill>
              </a:rPr>
              <a:t> (highest MSE &amp; MAE).</a:t>
            </a:r>
            <a:br>
              <a:rPr lang="en" sz="1850">
                <a:solidFill>
                  <a:schemeClr val="dk1"/>
                </a:solidFill>
              </a:rPr>
            </a:br>
            <a:endParaRPr sz="185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r>
              <a:rPr lang="en" sz="1850" b="1">
                <a:solidFill>
                  <a:schemeClr val="dk1"/>
                </a:solidFill>
              </a:rPr>
              <a:t>Conclusion:</a:t>
            </a:r>
            <a:endParaRPr sz="1850" b="1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 b="1">
                <a:solidFill>
                  <a:schemeClr val="dk1"/>
                </a:solidFill>
              </a:rPr>
              <a:t>SARIMA is the best-performing model</a:t>
            </a:r>
            <a:r>
              <a:rPr lang="en" sz="1850">
                <a:solidFill>
                  <a:schemeClr val="dk1"/>
                </a:solidFill>
              </a:rPr>
              <a:t> for forecasting Apple’s stock prices because it captures trend + seasonality more accurately.</a:t>
            </a:r>
            <a:br>
              <a:rPr lang="en" sz="1850">
                <a:solidFill>
                  <a:schemeClr val="dk1"/>
                </a:solidFill>
              </a:rPr>
            </a:br>
            <a:endParaRPr sz="1850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>
                <a:solidFill>
                  <a:schemeClr val="dk1"/>
                </a:solidFill>
              </a:rPr>
              <a:t>ARIMA performs reasonably well but misses seasonal patterns.</a:t>
            </a:r>
            <a:br>
              <a:rPr lang="en" sz="1850">
                <a:solidFill>
                  <a:schemeClr val="dk1"/>
                </a:solidFill>
              </a:rPr>
            </a:br>
            <a:endParaRPr sz="1850">
              <a:solidFill>
                <a:schemeClr val="dk1"/>
              </a:solidFill>
            </a:endParaRPr>
          </a:p>
          <a:p>
            <a:pPr marL="1828800" lvl="0" indent="-328453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50">
                <a:solidFill>
                  <a:schemeClr val="dk1"/>
                </a:solidFill>
              </a:rPr>
              <a:t>XGBoost is not suitable for this time-series dataset due to lack of sequential learning.</a:t>
            </a:r>
            <a:endParaRPr sz="185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000"/>
              </a:spcBef>
              <a:spcAft>
                <a:spcPts val="2400"/>
              </a:spcAft>
              <a:buNone/>
            </a:pPr>
            <a:endParaRPr sz="1850"/>
          </a:p>
        </p:txBody>
      </p:sp>
      <p:graphicFrame>
        <p:nvGraphicFramePr>
          <p:cNvPr id="187" name="Google Shape;187;p33"/>
          <p:cNvGraphicFramePr/>
          <p:nvPr/>
        </p:nvGraphicFramePr>
        <p:xfrm>
          <a:off x="952500" y="303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{5AEDC239-AC67-4689-BD79-165F5BB94E70}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400" y="3269250"/>
            <a:ext cx="7387299" cy="31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200" y="3269250"/>
            <a:ext cx="7231351" cy="31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Best Performing Model – SARIMA</a:t>
            </a:r>
            <a:endParaRPr sz="5000" b="1" u="sng"/>
          </a:p>
        </p:txBody>
      </p:sp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</a:rPr>
              <a:t>Why SARIMA is the Best Model?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SARIMA achieved the </a:t>
            </a:r>
            <a:r>
              <a:rPr lang="en" sz="1900" b="1">
                <a:solidFill>
                  <a:schemeClr val="dk1"/>
                </a:solidFill>
              </a:rPr>
              <a:t>lowest MAE = 7.83</a:t>
            </a:r>
            <a:r>
              <a:rPr lang="en" sz="1900">
                <a:solidFill>
                  <a:schemeClr val="dk1"/>
                </a:solidFill>
              </a:rPr>
              <a:t>, meaning predictions are closest to actual prices.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It effectively captures </a:t>
            </a:r>
            <a:r>
              <a:rPr lang="en" sz="1900" b="1">
                <a:solidFill>
                  <a:schemeClr val="dk1"/>
                </a:solidFill>
              </a:rPr>
              <a:t>trend + seasonality</a:t>
            </a:r>
            <a:r>
              <a:rPr lang="en" sz="1900">
                <a:solidFill>
                  <a:schemeClr val="dk1"/>
                </a:solidFill>
              </a:rPr>
              <a:t>, which is important in stock time-series data.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Produces </a:t>
            </a:r>
            <a:r>
              <a:rPr lang="en" sz="1900" b="1">
                <a:solidFill>
                  <a:schemeClr val="dk1"/>
                </a:solidFill>
              </a:rPr>
              <a:t>stable and smoother forecasts</a:t>
            </a:r>
            <a:r>
              <a:rPr lang="en" sz="1900">
                <a:solidFill>
                  <a:schemeClr val="dk1"/>
                </a:solidFill>
              </a:rPr>
              <a:t> compared to ARIMA and XGBoost.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Handles </a:t>
            </a:r>
            <a:r>
              <a:rPr lang="en" sz="1900" b="1">
                <a:solidFill>
                  <a:schemeClr val="dk1"/>
                </a:solidFill>
              </a:rPr>
              <a:t>time dependency</a:t>
            </a:r>
            <a:r>
              <a:rPr lang="en" sz="1900">
                <a:solidFill>
                  <a:schemeClr val="dk1"/>
                </a:solidFill>
              </a:rPr>
              <a:t> better than machine learning models.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24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Model Visualization and Prediction Output</a:t>
            </a:r>
            <a:endParaRPr sz="5000" b="1" u="sng"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780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400"/>
              </a:spcAft>
              <a:buNone/>
            </a:pPr>
            <a:endParaRPr/>
          </a:p>
        </p:txBody>
      </p:sp>
      <p:graphicFrame>
        <p:nvGraphicFramePr>
          <p:cNvPr id="202" name="Google Shape;202;p35"/>
          <p:cNvGraphicFramePr/>
          <p:nvPr/>
        </p:nvGraphicFramePr>
        <p:xfrm>
          <a:off x="979859" y="243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{5AEDC239-AC67-4689-BD79-165F5BB94E70}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400">
                <a:tc>
                  <a:txBody>
                    <a:bodyPr/>
                    <a:lstStyle/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Candlestick Chart – Stock Price Movement</a:t>
                      </a: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Shows daily Open, High, Low, and Close values of Apple stock.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Helps visualize market trends, volatility, and price fluctuations.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Useful for identifying bullish and bearish phases in the selected time period.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chemeClr val="dk1"/>
                          </a:solidFill>
                        </a:rPr>
                        <a:t>SARIMA Forecast – Next 30 Days Prediction</a:t>
                      </a:r>
                      <a:endParaRPr sz="1300" b="1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Forecasts future stock prices using the SARIMA model.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Orange points represent predicted closing prices for the next 30 days.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SARIMA chosen as best model due to lowest MAE and stable prediction pattern.</a:t>
                      </a:r>
                      <a:br>
                        <a:rPr lang="en" sz="1300">
                          <a:solidFill>
                            <a:schemeClr val="dk1"/>
                          </a:solidFill>
                        </a:rPr>
                      </a:b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425" y="2436950"/>
            <a:ext cx="7539999" cy="41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8000" y="2586675"/>
            <a:ext cx="7142624" cy="380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u="sng"/>
              <a:t>Challenges Faced During the Project</a:t>
            </a:r>
            <a:endParaRPr sz="5000" b="1" u="sng"/>
          </a:p>
        </p:txBody>
      </p:sp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Required careful preprocessing to ensure model accuracy.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Choosing the best model based on evaluation metrics (MSE &amp; MAE) was challenging.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Understanding parameters (p, d, q, P, D, Q) and seasonal components was difficult initially.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Integrating complex forecasting logic into Streamlit caused errors.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MSE &amp; MAE were giving different rankings.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n" sz="3400"/>
              <a:t>Needed clear understanding of which metric to rely on (MAE for time-series).</a:t>
            </a:r>
            <a:endParaRPr sz="3400"/>
          </a:p>
          <a:p>
            <a:pPr marL="457200" lvl="0" indent="0" algn="l" rtl="0">
              <a:spcBef>
                <a:spcPts val="2400"/>
              </a:spcBef>
              <a:spcAft>
                <a:spcPts val="2400"/>
              </a:spcAft>
              <a:buNone/>
            </a:pPr>
            <a:endParaRPr sz="3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>
            <a:spLocks noGrp="1"/>
          </p:cNvSpPr>
          <p:nvPr>
            <p:ph type="body" idx="1"/>
          </p:nvPr>
        </p:nvSpPr>
        <p:spPr>
          <a:xfrm>
            <a:off x="623400" y="0"/>
            <a:ext cx="17041200" cy="10287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0" b="1">
                <a:solidFill>
                  <a:schemeClr val="dk1"/>
                </a:solidFill>
              </a:rPr>
              <a:t>Thank You</a:t>
            </a:r>
            <a:endParaRPr sz="80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Thank you for giving me the opportunity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to present my project.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24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1860</Words>
  <Application>Microsoft Office PowerPoint</Application>
  <PresentationFormat>Custom</PresentationFormat>
  <Paragraphs>333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Simple Light</vt:lpstr>
      <vt:lpstr> Apple Stock Price Prediction  for the Next 30 Days </vt:lpstr>
      <vt:lpstr>Mentor &amp; Team Members</vt:lpstr>
      <vt:lpstr>Objective</vt:lpstr>
      <vt:lpstr>Dataset Details</vt:lpstr>
      <vt:lpstr>Exploratory Data Analysis (EDA) - Distribution of Close Prices</vt:lpstr>
      <vt:lpstr>Volume vs Close Price</vt:lpstr>
      <vt:lpstr>Open vs Close Relationship</vt:lpstr>
      <vt:lpstr>Correlation Heatmap</vt:lpstr>
      <vt:lpstr>Stock Close Price over Time</vt:lpstr>
      <vt:lpstr>Visual Check for Outliers</vt:lpstr>
      <vt:lpstr>Communicate Findings and Insights from EDA  </vt:lpstr>
      <vt:lpstr>Apple Stock Volatility Over Time</vt:lpstr>
      <vt:lpstr>Data Preprocessing</vt:lpstr>
      <vt:lpstr>Feature Engineering</vt:lpstr>
      <vt:lpstr>Comparison</vt:lpstr>
      <vt:lpstr>Model Selection Approach</vt:lpstr>
      <vt:lpstr>ARIMA Model</vt:lpstr>
      <vt:lpstr>SARIMA Model</vt:lpstr>
      <vt:lpstr>XGBoost Model</vt:lpstr>
      <vt:lpstr>Model Evaluation Table (MSE &amp; MAE)</vt:lpstr>
      <vt:lpstr>Model Evaluation – MSE &amp; MAE Comparison</vt:lpstr>
      <vt:lpstr>Best Performing Model – SARIMA</vt:lpstr>
      <vt:lpstr>Model Visualization and Prediction Output</vt:lpstr>
      <vt:lpstr>Challenges Faced During the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Tejaswi Wadekar</cp:lastModifiedBy>
  <cp:revision>1</cp:revision>
  <dcterms:modified xsi:type="dcterms:W3CDTF">2025-12-08T13:41:57Z</dcterms:modified>
</cp:coreProperties>
</file>