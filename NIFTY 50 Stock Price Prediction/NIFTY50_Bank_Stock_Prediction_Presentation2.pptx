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8" r:id="rId10"/>
    <p:sldId id="269" r:id="rId11"/>
    <p:sldId id="262" r:id="rId12"/>
    <p:sldId id="263" r:id="rId13"/>
    <p:sldId id="264" r:id="rId14"/>
    <p:sldId id="265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695F3C-6FF5-4255-BD12-A35389ABD948}" v="1" dt="2026-07-22T14:23:16.0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67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jaswi Wadekar" userId="2b0b43e9736e322f" providerId="LiveId" clId="{192908AD-0310-4E56-8E12-80DC56579A23}"/>
    <pc:docChg chg="custSel modSld">
      <pc:chgData name="Tejaswi Wadekar" userId="2b0b43e9736e322f" providerId="LiveId" clId="{192908AD-0310-4E56-8E12-80DC56579A23}" dt="2026-07-22T14:24:00.465" v="13" actId="20577"/>
      <pc:docMkLst>
        <pc:docMk/>
      </pc:docMkLst>
      <pc:sldChg chg="delSp modSp mod">
        <pc:chgData name="Tejaswi Wadekar" userId="2b0b43e9736e322f" providerId="LiveId" clId="{192908AD-0310-4E56-8E12-80DC56579A23}" dt="2026-07-22T14:24:00.465" v="13" actId="20577"/>
        <pc:sldMkLst>
          <pc:docMk/>
          <pc:sldMk cId="0" sldId="265"/>
        </pc:sldMkLst>
        <pc:spChg chg="del mod">
          <ac:chgData name="Tejaswi Wadekar" userId="2b0b43e9736e322f" providerId="LiveId" clId="{192908AD-0310-4E56-8E12-80DC56579A23}" dt="2026-07-22T14:23:40.119" v="6" actId="478"/>
          <ac:spMkLst>
            <pc:docMk/>
            <pc:sldMk cId="0" sldId="265"/>
            <ac:spMk id="2" creationId="{00000000-0000-0000-0000-000000000000}"/>
          </ac:spMkLst>
        </pc:spChg>
        <pc:spChg chg="mod">
          <ac:chgData name="Tejaswi Wadekar" userId="2b0b43e9736e322f" providerId="LiveId" clId="{192908AD-0310-4E56-8E12-80DC56579A23}" dt="2026-07-22T14:24:00.465" v="13" actId="20577"/>
          <ac:spMkLst>
            <pc:docMk/>
            <pc:sldMk cId="0" sldId="265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u="sng" dirty="0"/>
              <a:t>NIFTY 50 Bank Stock Price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Forecast future bank stock prices for investment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Predict next 30 days using Prophet and provide an interactive dashboard.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Historical NIFTY Bank stock price dataset (banknifty.csv).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Python, Pandas, Prophet, Streamlit, Plotly, Joblib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Data preprocessing</a:t>
            </a:r>
          </a:p>
          <a:p>
            <a:pPr>
              <a:defRPr sz="2200"/>
            </a:pPr>
            <a:r>
              <a:rPr dirty="0"/>
              <a:t>Train Prophet models</a:t>
            </a:r>
          </a:p>
          <a:p>
            <a:pPr>
              <a:defRPr sz="2200"/>
            </a:pPr>
            <a:r>
              <a:rPr dirty="0"/>
              <a:t>Generate future </a:t>
            </a:r>
            <a:r>
              <a:rPr dirty="0" err="1"/>
              <a:t>dataframe</a:t>
            </a:r>
            <a:endParaRPr dirty="0"/>
          </a:p>
          <a:p>
            <a:pPr>
              <a:defRPr sz="2200"/>
            </a:pPr>
            <a:r>
              <a:rPr dirty="0"/>
              <a:t>Predict 30 days</a:t>
            </a:r>
          </a:p>
          <a:p>
            <a:pPr>
              <a:defRPr sz="2200"/>
            </a:pPr>
            <a:r>
              <a:rPr dirty="0"/>
              <a:t>Visualize and export CSV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7BB5B79-1B11-73EA-6BDD-2AB89BBFDAE1}"/>
              </a:ext>
            </a:extLst>
          </p:cNvPr>
          <p:cNvSpPr txBox="1"/>
          <p:nvPr/>
        </p:nvSpPr>
        <p:spPr>
          <a:xfrm>
            <a:off x="273378" y="359997"/>
            <a:ext cx="824845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IN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Exploratory Data Analysis - </a:t>
            </a:r>
            <a:r>
              <a:rPr lang="en-IN" sz="2800" b="1" dirty="0"/>
              <a:t>Bank-wise Stock Growth</a:t>
            </a:r>
          </a:p>
          <a:p>
            <a:pPr algn="ctr"/>
            <a:endParaRPr lang="en-IN" sz="36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0A1475-F290-4CA8-480F-1F7B4D483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0304"/>
            <a:ext cx="9144000" cy="36567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EC0419D-F648-4D0E-94B1-2764480274EB}"/>
              </a:ext>
            </a:extLst>
          </p:cNvPr>
          <p:cNvSpPr txBox="1"/>
          <p:nvPr/>
        </p:nvSpPr>
        <p:spPr>
          <a:xfrm>
            <a:off x="273378" y="5031708"/>
            <a:ext cx="8870622" cy="28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600" b="0" dirty="0">
                <a:effectLst/>
                <a:latin typeface="+mj-lt"/>
              </a:rPr>
              <a:t>From this we know that ICICI bank is best performer and </a:t>
            </a:r>
            <a:r>
              <a:rPr lang="en-US" sz="1600" b="0" dirty="0" err="1">
                <a:effectLst/>
                <a:latin typeface="+mj-lt"/>
              </a:rPr>
              <a:t>bandhan_bank</a:t>
            </a:r>
            <a:r>
              <a:rPr lang="en-US" sz="1600" b="0" dirty="0">
                <a:effectLst/>
                <a:latin typeface="+mj-lt"/>
              </a:rPr>
              <a:t> is </a:t>
            </a:r>
            <a:r>
              <a:rPr lang="en-US" sz="1600" dirty="0">
                <a:latin typeface="+mj-lt"/>
              </a:rPr>
              <a:t> </a:t>
            </a:r>
            <a:r>
              <a:rPr lang="en-US" sz="1600" b="0" dirty="0">
                <a:effectLst/>
                <a:latin typeface="+mj-lt"/>
              </a:rPr>
              <a:t>worst performer.</a:t>
            </a:r>
          </a:p>
        </p:txBody>
      </p:sp>
    </p:spTree>
    <p:extLst>
      <p:ext uri="{BB962C8B-B14F-4D97-AF65-F5344CB8AC3E}">
        <p14:creationId xmlns:p14="http://schemas.microsoft.com/office/powerpoint/2010/main" val="128829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FFA89D-367A-0182-AE00-849A607C92A8}"/>
              </a:ext>
            </a:extLst>
          </p:cNvPr>
          <p:cNvSpPr txBox="1"/>
          <p:nvPr/>
        </p:nvSpPr>
        <p:spPr>
          <a:xfrm>
            <a:off x="1673257" y="431855"/>
            <a:ext cx="6414940" cy="319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  <a:buNone/>
            </a:pPr>
            <a:r>
              <a:rPr lang="en-IN" sz="2800" b="1" dirty="0">
                <a:effectLst/>
              </a:rPr>
              <a:t>Bank-Wise Volatility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0F3DA5-7BA5-0206-664C-4C50E452A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291" y="1190625"/>
            <a:ext cx="7673417" cy="38621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98B4F2-0F8C-8EA0-CC97-C05FBB76F58C}"/>
              </a:ext>
            </a:extLst>
          </p:cNvPr>
          <p:cNvSpPr txBox="1"/>
          <p:nvPr/>
        </p:nvSpPr>
        <p:spPr>
          <a:xfrm>
            <a:off x="716437" y="5259270"/>
            <a:ext cx="6923988" cy="281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sz="1600" b="0" dirty="0">
                <a:effectLst/>
                <a:latin typeface="+mj-lt"/>
              </a:rPr>
              <a:t>#indusind bank have high volatility and </a:t>
            </a:r>
            <a:r>
              <a:rPr lang="en-US" sz="1600" b="0" dirty="0" err="1">
                <a:effectLst/>
                <a:latin typeface="+mj-lt"/>
              </a:rPr>
              <a:t>bnf</a:t>
            </a:r>
            <a:r>
              <a:rPr lang="en-US" sz="1600" b="0" dirty="0">
                <a:effectLst/>
                <a:latin typeface="+mj-lt"/>
              </a:rPr>
              <a:t> bank have low volatility</a:t>
            </a:r>
          </a:p>
        </p:txBody>
      </p:sp>
    </p:spTree>
    <p:extLst>
      <p:ext uri="{BB962C8B-B14F-4D97-AF65-F5344CB8AC3E}">
        <p14:creationId xmlns:p14="http://schemas.microsoft.com/office/powerpoint/2010/main" val="2087312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E57A65C-72FF-8D14-3660-3F9B1B7617AE}"/>
              </a:ext>
            </a:extLst>
          </p:cNvPr>
          <p:cNvSpPr txBox="1"/>
          <p:nvPr/>
        </p:nvSpPr>
        <p:spPr>
          <a:xfrm>
            <a:off x="2220012" y="258393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sz="2800" b="1" u="sng" dirty="0"/>
              <a:t>Correlation Heatmap</a:t>
            </a:r>
            <a:endParaRPr lang="en-IN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74CE40-1B1D-57D4-A370-6271D98B3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1321"/>
            <a:ext cx="9144000" cy="3931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563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FDC580-1CBB-ECF9-1181-B3D57515C711}"/>
              </a:ext>
            </a:extLst>
          </p:cNvPr>
          <p:cNvSpPr txBox="1"/>
          <p:nvPr/>
        </p:nvSpPr>
        <p:spPr>
          <a:xfrm>
            <a:off x="245097" y="316954"/>
            <a:ext cx="8653806" cy="498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</a:pPr>
            <a:r>
              <a:rPr lang="en-IN" sz="2800" b="1" dirty="0">
                <a:effectLst/>
                <a:latin typeface="+mj-lt"/>
              </a:rPr>
              <a:t>Historical Trend Analysis-</a:t>
            </a:r>
            <a:r>
              <a:rPr lang="en-IN" sz="2800" b="1" dirty="0">
                <a:latin typeface="+mj-lt"/>
              </a:rPr>
              <a:t>30 day rolling mean</a:t>
            </a:r>
          </a:p>
          <a:p>
            <a:pPr algn="ctr">
              <a:lnSpc>
                <a:spcPts val="1425"/>
              </a:lnSpc>
              <a:buNone/>
            </a:pPr>
            <a:endParaRPr lang="en-IN" sz="2800" b="1" dirty="0">
              <a:effectLst/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8800B0-3F72-66AD-233D-8C9051596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75" y="815809"/>
            <a:ext cx="7824249" cy="208928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F199AD-3F91-DDAF-B479-4700B8F6BBA9}"/>
              </a:ext>
            </a:extLst>
          </p:cNvPr>
          <p:cNvSpPr txBox="1"/>
          <p:nvPr/>
        </p:nvSpPr>
        <p:spPr>
          <a:xfrm>
            <a:off x="2286000" y="3288176"/>
            <a:ext cx="4572000" cy="321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25"/>
              </a:lnSpc>
              <a:buNone/>
            </a:pPr>
            <a:r>
              <a:rPr lang="en-IN" sz="2800" b="1" dirty="0">
                <a:effectLst/>
                <a:latin typeface="+mj-lt"/>
              </a:rPr>
              <a:t>30-Day Rolling Volatility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BC18776-594B-B41D-456E-09C5A18526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29" y="3609931"/>
            <a:ext cx="7305773" cy="288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01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Users choose a bank, view forecast, components and download results.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Interactive forecast visualization and downloadable predictions.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98B752-FCA7-8195-34BB-CE50B7FB9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555" y="2148681"/>
            <a:ext cx="3813445" cy="41600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47DDD8-3B64-14AF-66F4-B74AB6908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6600" y="2300140"/>
            <a:ext cx="4148845" cy="41600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Live API integration</a:t>
            </a:r>
          </a:p>
          <a:p>
            <a:pPr>
              <a:defRPr sz="2200"/>
            </a:pPr>
            <a:r>
              <a:t>Model comparison</a:t>
            </a:r>
          </a:p>
          <a:p>
            <a:pPr>
              <a:defRPr sz="2200"/>
            </a:pPr>
            <a:r>
              <a:t>Improved accuracy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ctr">
              <a:spcBef>
                <a:spcPts val="1800"/>
              </a:spcBef>
              <a:buClr>
                <a:schemeClr val="dk1"/>
              </a:buClr>
              <a:buSzPts val="1100"/>
              <a:buNone/>
            </a:pPr>
            <a:endParaRPr lang="en-US" sz="3600" b="1" dirty="0">
              <a:solidFill>
                <a:schemeClr val="dk1"/>
              </a:solidFill>
            </a:endParaRPr>
          </a:p>
          <a:p>
            <a:pPr marL="0" lvl="0" indent="0" algn="ctr">
              <a:spcBef>
                <a:spcPts val="1800"/>
              </a:spcBef>
              <a:buClr>
                <a:schemeClr val="dk1"/>
              </a:buClr>
              <a:buSzPts val="1100"/>
              <a:buNone/>
            </a:pPr>
            <a:r>
              <a:rPr lang="en-US" sz="3600" b="1" dirty="0">
                <a:solidFill>
                  <a:schemeClr val="dk1"/>
                </a:solidFill>
              </a:rPr>
              <a:t>Thank You</a:t>
            </a:r>
          </a:p>
          <a:p>
            <a:pPr marL="0" lvl="0" indent="0" algn="ctr">
              <a:lnSpc>
                <a:spcPct val="50000"/>
              </a:lnSpc>
              <a:spcBef>
                <a:spcPts val="1200"/>
              </a:spcBef>
              <a:buNone/>
            </a:pPr>
            <a:r>
              <a:rPr lang="en-US" sz="2000" dirty="0">
                <a:solidFill>
                  <a:schemeClr val="dk1"/>
                </a:solidFill>
              </a:rPr>
              <a:t>Thank you for giving me the opportunity</a:t>
            </a:r>
          </a:p>
          <a:p>
            <a:pPr marL="0" lvl="0" indent="0" algn="ctr">
              <a:lnSpc>
                <a:spcPct val="50000"/>
              </a:lnSpc>
              <a:spcBef>
                <a:spcPts val="1200"/>
              </a:spcBef>
              <a:buClr>
                <a:schemeClr val="dk1"/>
              </a:buClr>
              <a:buSzPts val="1100"/>
              <a:buNone/>
            </a:pPr>
            <a:r>
              <a:rPr lang="en-US" sz="2000" dirty="0">
                <a:solidFill>
                  <a:schemeClr val="dk1"/>
                </a:solidFill>
              </a:rPr>
              <a:t> to present my project.</a:t>
            </a:r>
          </a:p>
          <a:p>
            <a:pPr marL="0" indent="0">
              <a:buNone/>
              <a:defRPr sz="2200"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166</Words>
  <Application>Microsoft Office PowerPoint</Application>
  <PresentationFormat>On-screen Show (4:3)</PresentationFormat>
  <Paragraphs>34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NIFTY 50 Bank Stock Price Prediction</vt:lpstr>
      <vt:lpstr>Problem Statement</vt:lpstr>
      <vt:lpstr>Objective</vt:lpstr>
      <vt:lpstr>Dataset</vt:lpstr>
      <vt:lpstr>Technologies</vt:lpstr>
      <vt:lpstr>Methodology</vt:lpstr>
      <vt:lpstr>PowerPoint Presentation</vt:lpstr>
      <vt:lpstr>PowerPoint Presentation</vt:lpstr>
      <vt:lpstr>PowerPoint Presentation</vt:lpstr>
      <vt:lpstr>PowerPoint Presentation</vt:lpstr>
      <vt:lpstr>Application</vt:lpstr>
      <vt:lpstr>Results</vt:lpstr>
      <vt:lpstr>Future Scope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Tejaswi Wadekar</cp:lastModifiedBy>
  <cp:revision>1</cp:revision>
  <dcterms:created xsi:type="dcterms:W3CDTF">2013-01-27T09:14:16Z</dcterms:created>
  <dcterms:modified xsi:type="dcterms:W3CDTF">2026-07-22T14:24:03Z</dcterms:modified>
  <cp:category/>
</cp:coreProperties>
</file>